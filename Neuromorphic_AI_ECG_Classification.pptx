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 am presenting our AI mini-project: a brain-inspired Spiking Neural Network designed for real-time heart rhythm monitoring. Instead of using heavy, power-hungry deep learning models, we use neuromorphic artificial intelligence that communicates through biological pulses to detect cardiac arrhythmias with over 97% accuracy while using very little computing 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introduce our motivation: heart disease is the number one cause of death globally. Dangerous heart conditions often strike suddenly, so patients need wearable heart monitors they can wear all day and night. However, standard AI models are too heavy for small battery devices—they drain batteries in hours and relying on cloud servers causes delays when a patient is in danger. Our goal was to create an intelligent model light enough to run right on the device.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simple concept behind Spiking Neural Networks. In the human brain, neurons don't exchange large decimal numbers; they fire discrete electrical pulses. SNNs mimic this exact behavior. Each artificial neuron acts like a bucket with a tiny leak: it collects incoming signals, leaks if nothing arrives, and when it reaches a set threshold, it fires a pulse and resets to zero. Because neurons stay completely quiet when there is nothing to report, SNNs use almost zero power during quiet intervals.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our model on the MIT-BIH Arrhythmia Database, which is the international benchmark for heart classification. It contains over 100,000 beats divided into 4 official categories: Normal beats, Supraventricular beats from the upper chambers, Ventricular beats from the lower chambers which can be fatal, and rare Fusion beats. As you can see, almost 90% of beats are normal, which makes finding the rare arrhythmias a true needle-in-a-haystack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data pipeline in three straightforward steps. First, we slice out each heartbeat by finding the sharp R-peak and taking 128 points around it. Second, because real-world signals have baseline wander from breathing and motion, we clean and normalize the signal between 0 and 1. Finally, we convert those values into spikes using rate coding over 25 timesteps: the tall peaks produce rapid bursts of spikes, while the flat resting baseline stays quiet. It is essentially translating heartbeats into Morse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neural network layout is clean and minimal. It has 128 inputs, two hidden layers of 32 neurons each, and 4 output neurons. Whichever output neuron fires the most spikes represents the diagnosed class. The most impressive aspect is its size: the entire model has only 5,248 parameters—taking up barely 5 kilobytes. This means it can easily live on a tiny wearable chip without needing extra RAM or cloud processing.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technical challenge we solved. Deep learning algorithms rely on calculus slopes to learn from their mistakes. However, a spike is an abrupt jump from 0 to 1 with no smooth slope, which used to prevent backpropagation in spiking networks. We used a technique called Surrogate Gradient Learning: during the forward pass, the model uses real discrete spikes. During backward training, it substitutes a smooth mathematical curve. This clever trick lets the AI learn effortlessly using modern backpropagation.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teach the network, we needed an objective function that cares about timing. Standard loss functions only ask whether the final answer was right, ignoring whether it fired early or late. We used a rhythm-aware metric called Van Rossum distance. It compares the continuous timing pattern of the model's spikes against the true rhythm across all 25 timesteps. This taught the network to fire cleanly and immediately when an arrhythmia occurs.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final benchmark results across three independent test runs. The published baseline achieved 93.26% accuracy. Our optimized SNN surpassed this significantly, reaching 97.24% overall accuracy and an 83.85% balanced F1 score. Even more importantly, our standard deviation was just 0.19%, proving that the AI is rock solid and completely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test confusion matrix on over 20,000 unseen patient beats: Normal beat accuracy is nearly 99%. In healthcare AI, false alarms are a major problem—if a monitor beeps constantly, patients ignore it. Our model reduced false alarms by nearly 46% while catching over 95.5% of dangerous ventricular arrhythmias. This proves our neuromorphic SNN delivers clinical-grade accuracy with ultra-low power and a tiny 5.2 KB footprint. Thank you, and I am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280160"/>
            <a:ext cx="10972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10058400" cy="4114800"/>
          </a:xfrm>
          <a:prstGeom prst="rect">
            <a:avLst/>
          </a:prstGeom>
          <a:noFill/>
        </p:spPr>
        <p:txBody>
          <a:bodyPr wrap="square">
            <a:spAutoFit/>
          </a:bodyPr>
          <a:lstStyle/>
          <a:p>
            <a:pPr>
              <a:spcAft>
                <a:spcPts val="1400"/>
              </a:spcAft>
              <a:defRPr sz="1300" b="1">
                <a:solidFill>
                  <a:srgbClr val="10B981"/>
                </a:solidFill>
              </a:defRPr>
            </a:pPr>
            <a:r>
              <a:t>ARTIFICIAL INTELLIGENCE MINI-PROJECT</a:t>
            </a:r>
          </a:p>
          <a:p>
            <a:pPr>
              <a:spcAft>
                <a:spcPts val="1600"/>
              </a:spcAft>
              <a:defRPr sz="3600" b="1">
                <a:solidFill>
                  <a:srgbClr val="FFFFFF"/>
                </a:solidFill>
              </a:defRPr>
            </a:pPr>
            <a:r>
              <a:t>Brain-Inspired AI for Real-Time</a:t>
            </a:r>
            <a:br/>
            <a:r>
              <a:t>Heart Rhythm Monitoring</a:t>
            </a:r>
          </a:p>
          <a:p>
            <a:pPr>
              <a:spcAft>
                <a:spcPts val="3600"/>
              </a:spcAft>
              <a:defRPr sz="1800">
                <a:solidFill>
                  <a:srgbClr val="94A3B8"/>
                </a:solidFill>
              </a:defRPr>
            </a:pPr>
            <a:r>
              <a:t>Accurate, Low-Power Arrhythmia Classification using Spiking Neural Networks (SNNs)</a:t>
            </a:r>
          </a:p>
          <a:p>
            <a:pPr>
              <a:defRPr sz="1400" b="1">
                <a:solidFill>
                  <a:srgbClr val="FFFFFF"/>
                </a:solidFill>
              </a:defRPr>
            </a:pPr>
            <a:r>
              <a:t>Author: Ketan Shinde  |  Domain: Neuromorphic AI &amp; Healthcare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0284C7"/>
                </a:solidFill>
              </a:defRPr>
            </a:pPr>
            <a:r>
              <a:t>ARTIFICIAL INTELLIGENCE MINI-PROJECT</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0F172A"/>
                </a:solidFill>
              </a:defRPr>
            </a:pPr>
            <a:r>
              <a:t>Problem Statement &amp; Clinical Motivation</a:t>
            </a:r>
          </a:p>
        </p:txBody>
      </p:sp>
      <p:sp>
        <p:nvSpPr>
          <p:cNvPr id="5" name="Rounded Rectangle 4"/>
          <p:cNvSpPr/>
          <p:nvPr/>
        </p:nvSpPr>
        <p:spPr>
          <a:xfrm>
            <a:off x="731520" y="146304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663440" cy="4297680"/>
          </a:xfrm>
          <a:prstGeom prst="rect">
            <a:avLst/>
          </a:prstGeom>
          <a:noFill/>
        </p:spPr>
        <p:txBody>
          <a:bodyPr wrap="square">
            <a:spAutoFit/>
          </a:bodyPr>
          <a:lstStyle/>
          <a:p>
            <a:pPr>
              <a:spcAft>
                <a:spcPts val="1600"/>
              </a:spcAft>
              <a:defRPr sz="1800" b="1">
                <a:solidFill>
                  <a:srgbClr val="0284C7"/>
                </a:solidFill>
              </a:defRPr>
            </a:pPr>
            <a:r>
              <a:t>The Medical Need</a:t>
            </a:r>
          </a:p>
          <a:p>
            <a:pPr>
              <a:spcAft>
                <a:spcPts val="1400"/>
              </a:spcAft>
              <a:defRPr sz="1400">
                <a:solidFill>
                  <a:srgbClr val="1E293B"/>
                </a:solidFill>
              </a:defRPr>
            </a:pPr>
            <a:r>
              <a:t>• Heart diseases are the leading cause of mortality worldwide.</a:t>
            </a:r>
          </a:p>
          <a:p>
            <a:pPr>
              <a:spcAft>
                <a:spcPts val="1400"/>
              </a:spcAft>
              <a:defRPr sz="1400">
                <a:solidFill>
                  <a:srgbClr val="1E293B"/>
                </a:solidFill>
              </a:defRPr>
            </a:pPr>
            <a:r>
              <a:t>• Irregular heart rhythms (arrhythmias) can happen randomly and without warning.</a:t>
            </a:r>
          </a:p>
          <a:p>
            <a:pPr>
              <a:spcAft>
                <a:spcPts val="1400"/>
              </a:spcAft>
              <a:defRPr sz="1400">
                <a:solidFill>
                  <a:srgbClr val="1E293B"/>
                </a:solidFill>
              </a:defRPr>
            </a:pPr>
            <a:r>
              <a:t>• Patients need continuous 24/7 monitoring through small wearable patches.</a:t>
            </a:r>
          </a:p>
          <a:p>
            <a:pPr>
              <a:spcAft>
                <a:spcPts val="1400"/>
              </a:spcAft>
              <a:defRPr sz="1400">
                <a:solidFill>
                  <a:srgbClr val="1E293B"/>
                </a:solidFill>
              </a:defRPr>
            </a:pPr>
            <a:r>
              <a:t>• Catching dangerous heartbeats early prevents sudden cardiac arrest.</a:t>
            </a:r>
          </a:p>
        </p:txBody>
      </p:sp>
      <p:sp>
        <p:nvSpPr>
          <p:cNvPr id="7" name="Rounded Rectangle 6"/>
          <p:cNvSpPr/>
          <p:nvPr/>
        </p:nvSpPr>
        <p:spPr>
          <a:xfrm>
            <a:off x="6217920" y="146304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91640"/>
            <a:ext cx="4663440" cy="4297680"/>
          </a:xfrm>
          <a:prstGeom prst="rect">
            <a:avLst/>
          </a:prstGeom>
          <a:noFill/>
        </p:spPr>
        <p:txBody>
          <a:bodyPr wrap="square">
            <a:spAutoFit/>
          </a:bodyPr>
          <a:lstStyle/>
          <a:p>
            <a:pPr>
              <a:spcAft>
                <a:spcPts val="1600"/>
              </a:spcAft>
              <a:defRPr sz="1800" b="1">
                <a:solidFill>
                  <a:srgbClr val="0F172A"/>
                </a:solidFill>
              </a:defRPr>
            </a:pPr>
            <a:r>
              <a:t>The Problem with Traditional AI</a:t>
            </a:r>
          </a:p>
          <a:p>
            <a:pPr>
              <a:spcAft>
                <a:spcPts val="1400"/>
              </a:spcAft>
              <a:defRPr sz="1400">
                <a:solidFill>
                  <a:srgbClr val="1E293B"/>
                </a:solidFill>
              </a:defRPr>
            </a:pPr>
            <a:r>
              <a:t>• Standard deep learning models (like CNNs or LSTMs) do massive continuous calculations.</a:t>
            </a:r>
          </a:p>
          <a:p>
            <a:pPr>
              <a:spcAft>
                <a:spcPts val="1400"/>
              </a:spcAft>
              <a:defRPr sz="1400">
                <a:solidFill>
                  <a:srgbClr val="1E293B"/>
                </a:solidFill>
              </a:defRPr>
            </a:pPr>
            <a:r>
              <a:t>• They consume heavy battery power, draining wearable monitors in just a few hours.</a:t>
            </a:r>
          </a:p>
          <a:p>
            <a:pPr>
              <a:spcAft>
                <a:spcPts val="1400"/>
              </a:spcAft>
              <a:defRPr sz="1400">
                <a:solidFill>
                  <a:srgbClr val="1E293B"/>
                </a:solidFill>
              </a:defRPr>
            </a:pPr>
            <a:r>
              <a:t>• Sending raw heart signals to the cloud introduces lag and risks patient privacy.</a:t>
            </a:r>
          </a:p>
          <a:p>
            <a:pPr>
              <a:spcAft>
                <a:spcPts val="1400"/>
              </a:spcAft>
              <a:defRPr sz="1400">
                <a:solidFill>
                  <a:srgbClr val="1E293B"/>
                </a:solidFill>
              </a:defRPr>
            </a:pPr>
            <a:r>
              <a:t>• We need an AI that can think locally on the wearable device in real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0284C7"/>
                </a:solidFill>
              </a:defRPr>
            </a:pPr>
            <a:r>
              <a:t>ARTIFICIAL INTELLIGENCE MINI-PROJECT</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0F172A"/>
                </a:solidFill>
              </a:defRPr>
            </a:pPr>
            <a:r>
              <a:t>Understanding Spiking Neural Networks (SNNs)</a:t>
            </a:r>
          </a:p>
        </p:txBody>
      </p:sp>
      <p:sp>
        <p:nvSpPr>
          <p:cNvPr id="5" name="Rounded Rectangle 4"/>
          <p:cNvSpPr/>
          <p:nvPr/>
        </p:nvSpPr>
        <p:spPr>
          <a:xfrm>
            <a:off x="731520" y="1463040"/>
            <a:ext cx="3474720" cy="47548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3017520" cy="4297680"/>
          </a:xfrm>
          <a:prstGeom prst="rect">
            <a:avLst/>
          </a:prstGeom>
          <a:noFill/>
        </p:spPr>
        <p:txBody>
          <a:bodyPr wrap="square">
            <a:spAutoFit/>
          </a:bodyPr>
          <a:lstStyle/>
          <a:p>
            <a:pPr>
              <a:spcAft>
                <a:spcPts val="1600"/>
              </a:spcAft>
              <a:defRPr sz="1700" b="1">
                <a:solidFill>
                  <a:srgbClr val="0284C7"/>
                </a:solidFill>
              </a:defRPr>
            </a:pPr>
            <a:r>
              <a:t>1. Brain-Inspired Pulses</a:t>
            </a:r>
          </a:p>
          <a:p>
            <a:pPr>
              <a:spcAft>
                <a:spcPts val="1200"/>
              </a:spcAft>
              <a:defRPr sz="1300">
                <a:solidFill>
                  <a:srgbClr val="1E293B"/>
                </a:solidFill>
              </a:defRPr>
            </a:pPr>
            <a:r>
              <a:t>• In our brains, neurons communicate using tiny electrical pulses called spikes.</a:t>
            </a:r>
          </a:p>
          <a:p>
            <a:pPr>
              <a:spcAft>
                <a:spcPts val="1200"/>
              </a:spcAft>
              <a:defRPr sz="1300">
                <a:solidFill>
                  <a:srgbClr val="1E293B"/>
                </a:solidFill>
              </a:defRPr>
            </a:pPr>
            <a:r>
              <a:t>• Instead of sending heavy decimal numbers, SNN neurons send simple on/off signals (0 or 1).</a:t>
            </a:r>
          </a:p>
          <a:p>
            <a:pPr>
              <a:spcAft>
                <a:spcPts val="1200"/>
              </a:spcAft>
              <a:defRPr sz="1300">
                <a:solidFill>
                  <a:srgbClr val="1E293B"/>
                </a:solidFill>
              </a:defRPr>
            </a:pPr>
            <a:r>
              <a:t>• Information is carried in the rhythm and timing of when these pulses fire.</a:t>
            </a:r>
          </a:p>
        </p:txBody>
      </p:sp>
      <p:sp>
        <p:nvSpPr>
          <p:cNvPr id="7" name="Rounded Rectangle 6"/>
          <p:cNvSpPr/>
          <p:nvPr/>
        </p:nvSpPr>
        <p:spPr>
          <a:xfrm>
            <a:off x="4343400" y="1463040"/>
            <a:ext cx="3474720" cy="475488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3017520" cy="4297680"/>
          </a:xfrm>
          <a:prstGeom prst="rect">
            <a:avLst/>
          </a:prstGeom>
          <a:noFill/>
        </p:spPr>
        <p:txBody>
          <a:bodyPr wrap="square">
            <a:spAutoFit/>
          </a:bodyPr>
          <a:lstStyle/>
          <a:p>
            <a:pPr>
              <a:spcAft>
                <a:spcPts val="1600"/>
              </a:spcAft>
              <a:defRPr sz="1700" b="1">
                <a:solidFill>
                  <a:srgbClr val="0E7490"/>
                </a:solidFill>
              </a:defRPr>
            </a:pPr>
            <a:r>
              <a:t>2. The Leaky Bucket Analogy</a:t>
            </a:r>
          </a:p>
          <a:p>
            <a:pPr>
              <a:spcAft>
                <a:spcPts val="1200"/>
              </a:spcAft>
              <a:defRPr sz="1300">
                <a:solidFill>
                  <a:srgbClr val="1E293B"/>
                </a:solidFill>
              </a:defRPr>
            </a:pPr>
            <a:r>
              <a:t>• Think of each artificial neuron like a bucket with a small leak at the bottom.</a:t>
            </a:r>
          </a:p>
          <a:p>
            <a:pPr>
              <a:spcAft>
                <a:spcPts val="1200"/>
              </a:spcAft>
              <a:defRPr sz="1300">
                <a:solidFill>
                  <a:srgbClr val="1E293B"/>
                </a:solidFill>
              </a:defRPr>
            </a:pPr>
            <a:r>
              <a:t>• Incoming pulses add water into the bucket (Integrate).</a:t>
            </a:r>
          </a:p>
          <a:p>
            <a:pPr>
              <a:spcAft>
                <a:spcPts val="1200"/>
              </a:spcAft>
              <a:defRPr sz="1300">
                <a:solidFill>
                  <a:srgbClr val="1E293B"/>
                </a:solidFill>
              </a:defRPr>
            </a:pPr>
            <a:r>
              <a:t>• If nothing arrives, the level slowly drops over time (Leak).</a:t>
            </a:r>
          </a:p>
          <a:p>
            <a:pPr>
              <a:spcAft>
                <a:spcPts val="1200"/>
              </a:spcAft>
              <a:defRPr sz="1300">
                <a:solidFill>
                  <a:srgbClr val="1E293B"/>
                </a:solidFill>
              </a:defRPr>
            </a:pPr>
            <a:r>
              <a:t>• When the bucket fills to the top, it fires a pulse and resets to empty (Fire &amp; Reset).</a:t>
            </a:r>
          </a:p>
        </p:txBody>
      </p:sp>
      <p:sp>
        <p:nvSpPr>
          <p:cNvPr id="9" name="Rounded Rectangle 8"/>
          <p:cNvSpPr/>
          <p:nvPr/>
        </p:nvSpPr>
        <p:spPr>
          <a:xfrm>
            <a:off x="7955280" y="1463040"/>
            <a:ext cx="3474720" cy="47548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691640"/>
            <a:ext cx="3017520" cy="4297680"/>
          </a:xfrm>
          <a:prstGeom prst="rect">
            <a:avLst/>
          </a:prstGeom>
          <a:noFill/>
        </p:spPr>
        <p:txBody>
          <a:bodyPr wrap="square">
            <a:spAutoFit/>
          </a:bodyPr>
          <a:lstStyle/>
          <a:p>
            <a:pPr>
              <a:spcAft>
                <a:spcPts val="1600"/>
              </a:spcAft>
              <a:defRPr sz="1700" b="1">
                <a:solidFill>
                  <a:srgbClr val="10B981"/>
                </a:solidFill>
              </a:defRPr>
            </a:pPr>
            <a:r>
              <a:t>3. Why It Saves Power</a:t>
            </a:r>
          </a:p>
          <a:p>
            <a:pPr>
              <a:spcAft>
                <a:spcPts val="1200"/>
              </a:spcAft>
              <a:defRPr sz="1300">
                <a:solidFill>
                  <a:srgbClr val="1E293B"/>
                </a:solidFill>
              </a:defRPr>
            </a:pPr>
            <a:r>
              <a:t>• Neurons stay completely silent until an actual pulse arrives.</a:t>
            </a:r>
          </a:p>
          <a:p>
            <a:pPr>
              <a:spcAft>
                <a:spcPts val="1200"/>
              </a:spcAft>
              <a:defRPr sz="1300">
                <a:solidFill>
                  <a:srgbClr val="1E293B"/>
                </a:solidFill>
              </a:defRPr>
            </a:pPr>
            <a:r>
              <a:t>• No spikes = no activity = zero power consumed.</a:t>
            </a:r>
          </a:p>
          <a:p>
            <a:pPr>
              <a:spcAft>
                <a:spcPts val="1200"/>
              </a:spcAft>
              <a:defRPr sz="1300">
                <a:solidFill>
                  <a:srgbClr val="1E293B"/>
                </a:solidFill>
              </a:defRPr>
            </a:pPr>
            <a:r>
              <a:t>• Instead of complex multiplications, the network just does simple additions when a pulse hits.</a:t>
            </a:r>
          </a:p>
          <a:p>
            <a:pPr>
              <a:spcAft>
                <a:spcPts val="1200"/>
              </a:spcAft>
              <a:defRPr sz="1300">
                <a:solidFill>
                  <a:srgbClr val="1E293B"/>
                </a:solidFill>
              </a:defRPr>
            </a:pPr>
            <a:r>
              <a:t>• Ideal for smart, battery-powered medical wearables.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0284C7"/>
                </a:solidFill>
              </a:defRPr>
            </a:pPr>
            <a:r>
              <a:t>ARTIFICIAL INTELLIGENCE MINI-PROJECT</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0F172A"/>
                </a:solidFill>
              </a:defRPr>
            </a:pPr>
            <a:r>
              <a:t>The Dataset: MIT-BIH Arrhythmia Benchmark</a:t>
            </a:r>
          </a:p>
        </p:txBody>
      </p:sp>
      <p:sp>
        <p:nvSpPr>
          <p:cNvPr id="5" name="Rounded Rectangle 4"/>
          <p:cNvSpPr/>
          <p:nvPr/>
        </p:nvSpPr>
        <p:spPr>
          <a:xfrm>
            <a:off x="731520" y="1371600"/>
            <a:ext cx="10698480" cy="1097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332720" cy="914400"/>
          </a:xfrm>
          <a:prstGeom prst="rect">
            <a:avLst/>
          </a:prstGeom>
          <a:noFill/>
        </p:spPr>
        <p:txBody>
          <a:bodyPr wrap="square">
            <a:spAutoFit/>
          </a:bodyPr>
          <a:lstStyle/>
          <a:p>
            <a:pPr>
              <a:defRPr sz="1600" b="1">
                <a:solidFill>
                  <a:srgbClr val="0F172A"/>
                </a:solidFill>
              </a:defRPr>
            </a:pPr>
            <a:r>
              <a:t>Benchmark: MIT-BIH Arrhythmia Database (PhysioNet)</a:t>
            </a:r>
          </a:p>
          <a:p>
            <a:pPr>
              <a:defRPr sz="1300">
                <a:solidFill>
                  <a:srgbClr val="0284C7"/>
                </a:solidFill>
              </a:defRPr>
            </a:pPr>
            <a:r>
              <a:t>Standard clinical benchmark with over 100,000 real patient heartbeats mapped to the 4 official AAMI medical categories:</a:t>
            </a:r>
          </a:p>
        </p:txBody>
      </p:sp>
      <p:sp>
        <p:nvSpPr>
          <p:cNvPr id="7" name="Rounded Rectangle 6"/>
          <p:cNvSpPr/>
          <p:nvPr/>
        </p:nvSpPr>
        <p:spPr>
          <a:xfrm>
            <a:off x="731520" y="2651760"/>
            <a:ext cx="2560320" cy="3566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788920"/>
            <a:ext cx="2286000" cy="3291840"/>
          </a:xfrm>
          <a:prstGeom prst="rect">
            <a:avLst/>
          </a:prstGeom>
          <a:noFill/>
        </p:spPr>
        <p:txBody>
          <a:bodyPr wrap="square">
            <a:spAutoFit/>
          </a:bodyPr>
          <a:lstStyle/>
          <a:p>
            <a:pPr>
              <a:spcAft>
                <a:spcPts val="800"/>
              </a:spcAft>
              <a:defRPr sz="1500" b="1">
                <a:solidFill>
                  <a:srgbClr val="0284C7"/>
                </a:solidFill>
              </a:defRPr>
            </a:pPr>
            <a:r>
              <a:t>Normal (N)</a:t>
            </a:r>
          </a:p>
          <a:p>
            <a:pPr>
              <a:spcAft>
                <a:spcPts val="1200"/>
              </a:spcAft>
              <a:defRPr sz="1400" b="1">
                <a:solidFill>
                  <a:srgbClr val="0F172A"/>
                </a:solidFill>
              </a:defRPr>
            </a:pPr>
            <a:r>
              <a:t>90,113 beats (89.5%)</a:t>
            </a:r>
          </a:p>
          <a:p>
            <a:pPr>
              <a:defRPr sz="1200">
                <a:solidFill>
                  <a:srgbClr val="64748B"/>
                </a:solidFill>
              </a:defRPr>
            </a:pPr>
            <a:r>
              <a:t>Healthy sinus rhythm and typical heart patterns.</a:t>
            </a:r>
          </a:p>
        </p:txBody>
      </p:sp>
      <p:sp>
        <p:nvSpPr>
          <p:cNvPr id="9" name="Rounded Rectangle 8"/>
          <p:cNvSpPr/>
          <p:nvPr/>
        </p:nvSpPr>
        <p:spPr>
          <a:xfrm>
            <a:off x="3429000" y="2651760"/>
            <a:ext cx="2560320" cy="3566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788920"/>
            <a:ext cx="2286000" cy="3291840"/>
          </a:xfrm>
          <a:prstGeom prst="rect">
            <a:avLst/>
          </a:prstGeom>
          <a:noFill/>
        </p:spPr>
        <p:txBody>
          <a:bodyPr wrap="square">
            <a:spAutoFit/>
          </a:bodyPr>
          <a:lstStyle/>
          <a:p>
            <a:pPr>
              <a:spcAft>
                <a:spcPts val="800"/>
              </a:spcAft>
              <a:defRPr sz="1500" b="1">
                <a:solidFill>
                  <a:srgbClr val="0E7490"/>
                </a:solidFill>
              </a:defRPr>
            </a:pPr>
            <a:r>
              <a:t>Supraventricular (S)</a:t>
            </a:r>
          </a:p>
          <a:p>
            <a:pPr>
              <a:spcAft>
                <a:spcPts val="1200"/>
              </a:spcAft>
              <a:defRPr sz="1400" b="1">
                <a:solidFill>
                  <a:srgbClr val="0F172A"/>
                </a:solidFill>
              </a:defRPr>
            </a:pPr>
            <a:r>
              <a:t>2,781 beats (2.8%)</a:t>
            </a:r>
          </a:p>
          <a:p>
            <a:pPr>
              <a:defRPr sz="1200">
                <a:solidFill>
                  <a:srgbClr val="64748B"/>
                </a:solidFill>
              </a:defRPr>
            </a:pPr>
            <a:r>
              <a:t>Abnormal beats starting early in the upper heart chambers (atria).</a:t>
            </a:r>
          </a:p>
        </p:txBody>
      </p:sp>
      <p:sp>
        <p:nvSpPr>
          <p:cNvPr id="11" name="Rounded Rectangle 10"/>
          <p:cNvSpPr/>
          <p:nvPr/>
        </p:nvSpPr>
        <p:spPr>
          <a:xfrm>
            <a:off x="6126480" y="2651760"/>
            <a:ext cx="2560320" cy="3566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788920"/>
            <a:ext cx="2286000" cy="3291840"/>
          </a:xfrm>
          <a:prstGeom prst="rect">
            <a:avLst/>
          </a:prstGeom>
          <a:noFill/>
        </p:spPr>
        <p:txBody>
          <a:bodyPr wrap="square">
            <a:spAutoFit/>
          </a:bodyPr>
          <a:lstStyle/>
          <a:p>
            <a:pPr>
              <a:spcAft>
                <a:spcPts val="800"/>
              </a:spcAft>
              <a:defRPr sz="1500" b="1">
                <a:solidFill>
                  <a:srgbClr val="E11D48"/>
                </a:solidFill>
              </a:defRPr>
            </a:pPr>
            <a:r>
              <a:t>Ventricular (V)</a:t>
            </a:r>
          </a:p>
          <a:p>
            <a:pPr>
              <a:spcAft>
                <a:spcPts val="1200"/>
              </a:spcAft>
              <a:defRPr sz="1400" b="1">
                <a:solidFill>
                  <a:srgbClr val="0F172A"/>
                </a:solidFill>
              </a:defRPr>
            </a:pPr>
            <a:r>
              <a:t>7,008 beats (7.0%)</a:t>
            </a:r>
          </a:p>
          <a:p>
            <a:pPr>
              <a:defRPr sz="1200">
                <a:solidFill>
                  <a:srgbClr val="64748B"/>
                </a:solidFill>
              </a:defRPr>
            </a:pPr>
            <a:r>
              <a:t>Dangerous irregular contractions in the lower chambers (PVCs). Critical!</a:t>
            </a:r>
          </a:p>
        </p:txBody>
      </p:sp>
      <p:sp>
        <p:nvSpPr>
          <p:cNvPr id="13" name="Rounded Rectangle 12"/>
          <p:cNvSpPr/>
          <p:nvPr/>
        </p:nvSpPr>
        <p:spPr>
          <a:xfrm>
            <a:off x="8823960" y="2651760"/>
            <a:ext cx="2560320" cy="3566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2788920"/>
            <a:ext cx="2286000" cy="3291840"/>
          </a:xfrm>
          <a:prstGeom prst="rect">
            <a:avLst/>
          </a:prstGeom>
          <a:noFill/>
        </p:spPr>
        <p:txBody>
          <a:bodyPr wrap="square">
            <a:spAutoFit/>
          </a:bodyPr>
          <a:lstStyle/>
          <a:p>
            <a:pPr>
              <a:spcAft>
                <a:spcPts val="800"/>
              </a:spcAft>
              <a:defRPr sz="1500" b="1">
                <a:solidFill>
                  <a:srgbClr val="D97706"/>
                </a:solidFill>
              </a:defRPr>
            </a:pPr>
            <a:r>
              <a:t>Fusion (F)</a:t>
            </a:r>
          </a:p>
          <a:p>
            <a:pPr>
              <a:spcAft>
                <a:spcPts val="1200"/>
              </a:spcAft>
              <a:defRPr sz="1400" b="1">
                <a:solidFill>
                  <a:srgbClr val="0F172A"/>
                </a:solidFill>
              </a:defRPr>
            </a:pPr>
            <a:r>
              <a:t>802 beats (0.8%)</a:t>
            </a:r>
          </a:p>
          <a:p>
            <a:pPr>
              <a:defRPr sz="1200">
                <a:solidFill>
                  <a:srgbClr val="64748B"/>
                </a:solidFill>
              </a:defRPr>
            </a:pPr>
            <a:r>
              <a:t>A rare, complex blend of normal and ventricular heartbeats.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0284C7"/>
                </a:solidFill>
              </a:defRPr>
            </a:pPr>
            <a:r>
              <a:t>ARTIFICIAL INTELLIGENCE MINI-PROJECT</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0F172A"/>
                </a:solidFill>
              </a:defRPr>
            </a:pPr>
            <a:r>
              <a:t>Data Pipeline: From Raw Heartbeat to Brain Spikes</a:t>
            </a:r>
          </a:p>
        </p:txBody>
      </p:sp>
      <p:sp>
        <p:nvSpPr>
          <p:cNvPr id="5" name="Rounded Rectangle 4"/>
          <p:cNvSpPr/>
          <p:nvPr/>
        </p:nvSpPr>
        <p:spPr>
          <a:xfrm>
            <a:off x="731520" y="1463040"/>
            <a:ext cx="3474720" cy="47548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3017520" cy="4297680"/>
          </a:xfrm>
          <a:prstGeom prst="rect">
            <a:avLst/>
          </a:prstGeom>
          <a:noFill/>
        </p:spPr>
        <p:txBody>
          <a:bodyPr wrap="square">
            <a:spAutoFit/>
          </a:bodyPr>
          <a:lstStyle/>
          <a:p>
            <a:pPr>
              <a:spcAft>
                <a:spcPts val="1600"/>
              </a:spcAft>
              <a:defRPr sz="1700" b="1">
                <a:solidFill>
                  <a:srgbClr val="0284C7"/>
                </a:solidFill>
              </a:defRPr>
            </a:pPr>
            <a:r>
              <a:t>1. Slicing the Heartbeat</a:t>
            </a:r>
          </a:p>
          <a:p>
            <a:pPr>
              <a:spcAft>
                <a:spcPts val="1200"/>
              </a:spcAft>
              <a:defRPr sz="1300">
                <a:solidFill>
                  <a:srgbClr val="1E293B"/>
                </a:solidFill>
              </a:defRPr>
            </a:pPr>
            <a:r>
              <a:t>• We locate each heartbeat by finding its main sharp spike (the R-peak).</a:t>
            </a:r>
          </a:p>
          <a:p>
            <a:pPr>
              <a:spcAft>
                <a:spcPts val="1200"/>
              </a:spcAft>
              <a:defRPr sz="1300">
                <a:solidFill>
                  <a:srgbClr val="1E293B"/>
                </a:solidFill>
              </a:defRPr>
            </a:pPr>
            <a:r>
              <a:t>• We crop a neat window of 128 points around it.</a:t>
            </a:r>
          </a:p>
          <a:p>
            <a:pPr>
              <a:spcAft>
                <a:spcPts val="1200"/>
              </a:spcAft>
              <a:defRPr sz="1300">
                <a:solidFill>
                  <a:srgbClr val="1E293B"/>
                </a:solidFill>
              </a:defRPr>
            </a:pPr>
            <a:r>
              <a:t>• This captures the complete heartbeat wave from start to finish.</a:t>
            </a:r>
          </a:p>
          <a:p>
            <a:pPr>
              <a:spcAft>
                <a:spcPts val="1200"/>
              </a:spcAft>
              <a:defRPr sz="1300">
                <a:solidFill>
                  <a:srgbClr val="1E293B"/>
                </a:solidFill>
              </a:defRPr>
            </a:pPr>
            <a:r>
              <a:t>• Ensures every beat fed into the AI has identical length.</a:t>
            </a:r>
          </a:p>
        </p:txBody>
      </p:sp>
      <p:sp>
        <p:nvSpPr>
          <p:cNvPr id="7" name="Rounded Rectangle 6"/>
          <p:cNvSpPr/>
          <p:nvPr/>
        </p:nvSpPr>
        <p:spPr>
          <a:xfrm>
            <a:off x="4343400" y="1463040"/>
            <a:ext cx="3474720" cy="475488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3017520" cy="4297680"/>
          </a:xfrm>
          <a:prstGeom prst="rect">
            <a:avLst/>
          </a:prstGeom>
          <a:noFill/>
        </p:spPr>
        <p:txBody>
          <a:bodyPr wrap="square">
            <a:spAutoFit/>
          </a:bodyPr>
          <a:lstStyle/>
          <a:p>
            <a:pPr>
              <a:spcAft>
                <a:spcPts val="1600"/>
              </a:spcAft>
              <a:defRPr sz="1700" b="1">
                <a:solidFill>
                  <a:srgbClr val="0E7490"/>
                </a:solidFill>
              </a:defRPr>
            </a:pPr>
            <a:r>
              <a:t>2. Cleaning the Signal</a:t>
            </a:r>
          </a:p>
          <a:p>
            <a:pPr>
              <a:spcAft>
                <a:spcPts val="1200"/>
              </a:spcAft>
              <a:defRPr sz="1300">
                <a:solidFill>
                  <a:srgbClr val="1E293B"/>
                </a:solidFill>
              </a:defRPr>
            </a:pPr>
            <a:r>
              <a:t>• Real heart signals get noisy when patients breathe, walk, or move.</a:t>
            </a:r>
          </a:p>
          <a:p>
            <a:pPr>
              <a:spcAft>
                <a:spcPts val="1200"/>
              </a:spcAft>
              <a:defRPr sz="1300">
                <a:solidFill>
                  <a:srgbClr val="1E293B"/>
                </a:solidFill>
              </a:defRPr>
            </a:pPr>
            <a:r>
              <a:t>• We apply a robust scaling filter that smoothly cleans up baseline drift.</a:t>
            </a:r>
          </a:p>
          <a:p>
            <a:pPr>
              <a:spcAft>
                <a:spcPts val="1200"/>
              </a:spcAft>
              <a:defRPr sz="1300">
                <a:solidFill>
                  <a:srgbClr val="1E293B"/>
                </a:solidFill>
              </a:defRPr>
            </a:pPr>
            <a:r>
              <a:t>• Scales every heartbeat neatly into a uniform 0 to 1 range.</a:t>
            </a:r>
          </a:p>
          <a:p>
            <a:pPr>
              <a:spcAft>
                <a:spcPts val="1200"/>
              </a:spcAft>
              <a:defRPr sz="1300">
                <a:solidFill>
                  <a:srgbClr val="1E293B"/>
                </a:solidFill>
              </a:defRPr>
            </a:pPr>
            <a:r>
              <a:t>• Ensures signals look clean and consistent for the neural network.</a:t>
            </a:r>
          </a:p>
        </p:txBody>
      </p:sp>
      <p:sp>
        <p:nvSpPr>
          <p:cNvPr id="9" name="Rounded Rectangle 8"/>
          <p:cNvSpPr/>
          <p:nvPr/>
        </p:nvSpPr>
        <p:spPr>
          <a:xfrm>
            <a:off x="7955280" y="1463040"/>
            <a:ext cx="3474720" cy="47548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691640"/>
            <a:ext cx="3017520" cy="4297680"/>
          </a:xfrm>
          <a:prstGeom prst="rect">
            <a:avLst/>
          </a:prstGeom>
          <a:noFill/>
        </p:spPr>
        <p:txBody>
          <a:bodyPr wrap="square">
            <a:spAutoFit/>
          </a:bodyPr>
          <a:lstStyle/>
          <a:p>
            <a:pPr>
              <a:spcAft>
                <a:spcPts val="1600"/>
              </a:spcAft>
              <a:defRPr sz="1700" b="1">
                <a:solidFill>
                  <a:srgbClr val="10B981"/>
                </a:solidFill>
              </a:defRPr>
            </a:pPr>
            <a:r>
              <a:t>3. Converting to Spikes</a:t>
            </a:r>
          </a:p>
          <a:p>
            <a:pPr>
              <a:spcAft>
                <a:spcPts val="1200"/>
              </a:spcAft>
              <a:defRPr sz="1300">
                <a:solidFill>
                  <a:srgbClr val="1E293B"/>
                </a:solidFill>
              </a:defRPr>
            </a:pPr>
            <a:r>
              <a:t>• How does an SNN read a heartbeat? Using 'Rate Coding' across 25 time steps.</a:t>
            </a:r>
          </a:p>
          <a:p>
            <a:pPr>
              <a:spcAft>
                <a:spcPts val="1200"/>
              </a:spcAft>
              <a:defRPr sz="1300">
                <a:solidFill>
                  <a:srgbClr val="1E293B"/>
                </a:solidFill>
              </a:defRPr>
            </a:pPr>
            <a:r>
              <a:t>• Think of it like Morse code:</a:t>
            </a:r>
          </a:p>
          <a:p>
            <a:pPr>
              <a:spcAft>
                <a:spcPts val="1200"/>
              </a:spcAft>
              <a:defRPr sz="1300">
                <a:solidFill>
                  <a:srgbClr val="1E293B"/>
                </a:solidFill>
              </a:defRPr>
            </a:pPr>
            <a:r>
              <a:t>•   • Tall peaks (QRS wave) → rapid, dense bursts of spikes.</a:t>
            </a:r>
          </a:p>
          <a:p>
            <a:pPr>
              <a:spcAft>
                <a:spcPts val="1200"/>
              </a:spcAft>
              <a:defRPr sz="1300">
                <a:solidFill>
                  <a:srgbClr val="1E293B"/>
                </a:solidFill>
              </a:defRPr>
            </a:pPr>
            <a:r>
              <a:t>•   • Flat baseline → silent, almost zero spikes.</a:t>
            </a:r>
          </a:p>
          <a:p>
            <a:pPr>
              <a:spcAft>
                <a:spcPts val="1200"/>
              </a:spcAft>
              <a:defRPr sz="1300">
                <a:solidFill>
                  <a:srgbClr val="1E293B"/>
                </a:solidFill>
              </a:defRPr>
            </a:pPr>
            <a:r>
              <a:t>• Translates the heart signal into a rhythmic language the AI understands.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0284C7"/>
                </a:solidFill>
              </a:defRPr>
            </a:pPr>
            <a:r>
              <a:t>ARTIFICIAL INTELLIGENCE MINI-PROJECT</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0F172A"/>
                </a:solidFill>
              </a:defRPr>
            </a:pPr>
            <a:r>
              <a:t>Network Architecture: Simple &amp; Ultra-Compact</a:t>
            </a:r>
          </a:p>
        </p:txBody>
      </p:sp>
      <p:sp>
        <p:nvSpPr>
          <p:cNvPr id="5" name="Rounded Rectangle 4"/>
          <p:cNvSpPr/>
          <p:nvPr/>
        </p:nvSpPr>
        <p:spPr>
          <a:xfrm>
            <a:off x="731520" y="146304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663440" cy="4297680"/>
          </a:xfrm>
          <a:prstGeom prst="rect">
            <a:avLst/>
          </a:prstGeom>
          <a:noFill/>
        </p:spPr>
        <p:txBody>
          <a:bodyPr wrap="square">
            <a:spAutoFit/>
          </a:bodyPr>
          <a:lstStyle/>
          <a:p>
            <a:pPr>
              <a:spcAft>
                <a:spcPts val="1400"/>
              </a:spcAft>
              <a:defRPr sz="1700" b="1">
                <a:solidFill>
                  <a:srgbClr val="0F172A"/>
                </a:solidFill>
              </a:defRPr>
            </a:pPr>
            <a:r>
              <a:t>Layer Structure: 128 → 32 → 32 → 4</a:t>
            </a:r>
          </a:p>
          <a:p>
            <a:pPr>
              <a:spcAft>
                <a:spcPts val="1000"/>
              </a:spcAft>
              <a:defRPr sz="1300">
                <a:solidFill>
                  <a:srgbClr val="1E293B"/>
                </a:solidFill>
              </a:defRPr>
            </a:pPr>
            <a:r>
              <a:t>• Input Layer (128 channels): One input for each point in the heartbeat window.</a:t>
            </a:r>
          </a:p>
          <a:p>
            <a:pPr>
              <a:spcAft>
                <a:spcPts val="1000"/>
              </a:spcAft>
              <a:defRPr sz="1300">
                <a:solidFill>
                  <a:srgbClr val="1E293B"/>
                </a:solidFill>
              </a:defRPr>
            </a:pPr>
            <a:r>
              <a:t>• Hidden Layer 1 (32 neurons): Detects basic wave shapes and early rhythm patterns.</a:t>
            </a:r>
          </a:p>
          <a:p>
            <a:pPr>
              <a:spcAft>
                <a:spcPts val="1000"/>
              </a:spcAft>
              <a:defRPr sz="1300">
                <a:solidFill>
                  <a:srgbClr val="1E293B"/>
                </a:solidFill>
              </a:defRPr>
            </a:pPr>
            <a:r>
              <a:t>• Hidden Layer 2 (32 neurons): Combines patterns to spot specific arrhythmia traits.</a:t>
            </a:r>
          </a:p>
          <a:p>
            <a:pPr>
              <a:spcAft>
                <a:spcPts val="1000"/>
              </a:spcAft>
              <a:defRPr sz="1300">
                <a:solidFill>
                  <a:srgbClr val="1E293B"/>
                </a:solidFill>
              </a:defRPr>
            </a:pPr>
            <a:r>
              <a:t>• Output Layer (4 neurons): One neuron for each category (Normal, Supraventricular, Ventricular, Fusion).</a:t>
            </a:r>
          </a:p>
          <a:p>
            <a:pPr>
              <a:spcAft>
                <a:spcPts val="1000"/>
              </a:spcAft>
              <a:defRPr sz="1300">
                <a:solidFill>
                  <a:srgbClr val="1E293B"/>
                </a:solidFill>
              </a:defRPr>
            </a:pPr>
            <a:r>
              <a:t>• Winner Takes All: Whichever output neuron fires the most spikes is our final prediction!</a:t>
            </a:r>
          </a:p>
        </p:txBody>
      </p:sp>
      <p:sp>
        <p:nvSpPr>
          <p:cNvPr id="7" name="Rounded Rectangle 6"/>
          <p:cNvSpPr/>
          <p:nvPr/>
        </p:nvSpPr>
        <p:spPr>
          <a:xfrm>
            <a:off x="6217920" y="1463040"/>
            <a:ext cx="5212080" cy="47548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91640"/>
            <a:ext cx="4663440" cy="4297680"/>
          </a:xfrm>
          <a:prstGeom prst="rect">
            <a:avLst/>
          </a:prstGeom>
          <a:noFill/>
        </p:spPr>
        <p:txBody>
          <a:bodyPr wrap="square">
            <a:spAutoFit/>
          </a:bodyPr>
          <a:lstStyle/>
          <a:p>
            <a:pPr>
              <a:spcAft>
                <a:spcPts val="1400"/>
              </a:spcAft>
              <a:defRPr sz="1700" b="1">
                <a:solidFill>
                  <a:srgbClr val="10B981"/>
                </a:solidFill>
              </a:defRPr>
            </a:pPr>
            <a:r>
              <a:t>Why the Design is So Efficient</a:t>
            </a:r>
          </a:p>
          <a:p>
            <a:pPr>
              <a:spcAft>
                <a:spcPts val="1000"/>
              </a:spcAft>
              <a:defRPr sz="1300">
                <a:solidFill>
                  <a:srgbClr val="1E293B"/>
                </a:solidFill>
              </a:defRPr>
            </a:pPr>
            <a:r>
              <a:t>✔ Tiny Memory Footprint: Total network size is only 5,248 parameters (roughly 5.2 Kilobytes!).</a:t>
            </a:r>
          </a:p>
          <a:p>
            <a:pPr>
              <a:spcAft>
                <a:spcPts val="1000"/>
              </a:spcAft>
              <a:defRPr sz="1300">
                <a:solidFill>
                  <a:srgbClr val="1E293B"/>
                </a:solidFill>
              </a:defRPr>
            </a:pPr>
            <a:r>
              <a:t>✔ Runs on Simple Microchips: Can easily fit into tiny, ultra-cheap microcontrollers or wearable chips without external memory.</a:t>
            </a:r>
          </a:p>
          <a:p>
            <a:pPr>
              <a:spcAft>
                <a:spcPts val="1000"/>
              </a:spcAft>
              <a:defRPr sz="1300">
                <a:solidFill>
                  <a:srgbClr val="1E293B"/>
                </a:solidFill>
              </a:defRPr>
            </a:pPr>
            <a:r>
              <a:t>✔ No Heavy Math: Calculations use simple additions rather than thousands of floating-point multiplications.</a:t>
            </a:r>
          </a:p>
          <a:p>
            <a:pPr>
              <a:spcAft>
                <a:spcPts val="1000"/>
              </a:spcAft>
              <a:defRPr sz="1300">
                <a:solidFill>
                  <a:srgbClr val="1E293B"/>
                </a:solidFill>
              </a:defRPr>
            </a:pPr>
            <a:r>
              <a:t>✔ Fast Response: Analyzes each heartbeat in a fraction of a millisecond.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0284C7"/>
                </a:solidFill>
              </a:defRPr>
            </a:pPr>
            <a:r>
              <a:t>ARTIFICIAL INTELLIGENCE MINI-PROJECT</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0F172A"/>
                </a:solidFill>
              </a:defRPr>
            </a:pPr>
            <a:r>
              <a:t>Training the AI: Overcoming the Spike Problem</a:t>
            </a:r>
          </a:p>
        </p:txBody>
      </p:sp>
      <p:sp>
        <p:nvSpPr>
          <p:cNvPr id="5" name="Rounded Rectangle 4"/>
          <p:cNvSpPr/>
          <p:nvPr/>
        </p:nvSpPr>
        <p:spPr>
          <a:xfrm>
            <a:off x="731520" y="146304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663440" cy="4297680"/>
          </a:xfrm>
          <a:prstGeom prst="rect">
            <a:avLst/>
          </a:prstGeom>
          <a:noFill/>
        </p:spPr>
        <p:txBody>
          <a:bodyPr wrap="square">
            <a:spAutoFit/>
          </a:bodyPr>
          <a:lstStyle/>
          <a:p>
            <a:pPr>
              <a:spcAft>
                <a:spcPts val="1400"/>
              </a:spcAft>
              <a:defRPr sz="1700" b="1">
                <a:solidFill>
                  <a:srgbClr val="E11D48"/>
                </a:solidFill>
              </a:defRPr>
            </a:pPr>
            <a:r>
              <a:t>The Challenge: Spikes Don't Have Slopes</a:t>
            </a:r>
          </a:p>
          <a:p>
            <a:pPr>
              <a:spcAft>
                <a:spcPts val="1000"/>
              </a:spcAft>
              <a:defRPr sz="1300">
                <a:solidFill>
                  <a:srgbClr val="1E293B"/>
                </a:solidFill>
              </a:defRPr>
            </a:pPr>
            <a:r>
              <a:t>• Modern AI normally learns using calculus slopes (gradients).</a:t>
            </a:r>
          </a:p>
          <a:p>
            <a:pPr>
              <a:spcAft>
                <a:spcPts val="1000"/>
              </a:spcAft>
              <a:defRPr sz="1300">
                <a:solidFill>
                  <a:srgbClr val="1E293B"/>
                </a:solidFill>
              </a:defRPr>
            </a:pPr>
            <a:r>
              <a:t>• When an AI makes an error, it follows the slope backwards to tweak its weights.</a:t>
            </a:r>
          </a:p>
          <a:p>
            <a:pPr>
              <a:spcAft>
                <a:spcPts val="1000"/>
              </a:spcAft>
              <a:defRPr sz="1300">
                <a:solidFill>
                  <a:srgbClr val="1E293B"/>
                </a:solidFill>
              </a:defRPr>
            </a:pPr>
            <a:r>
              <a:t>• The Problem with Spikes: A spike is an instant jump from 0 to 1.</a:t>
            </a:r>
          </a:p>
          <a:p>
            <a:pPr>
              <a:spcAft>
                <a:spcPts val="1000"/>
              </a:spcAft>
              <a:defRPr sz="1300">
                <a:solidFill>
                  <a:srgbClr val="1E293B"/>
                </a:solidFill>
              </a:defRPr>
            </a:pPr>
            <a:r>
              <a:t>• Because it is an instant cliff, the slope is flat everywhere—which normally halts AI learning completely!</a:t>
            </a:r>
          </a:p>
          <a:p>
            <a:pPr>
              <a:spcAft>
                <a:spcPts val="1000"/>
              </a:spcAft>
              <a:defRPr sz="1300">
                <a:solidFill>
                  <a:srgbClr val="1E293B"/>
                </a:solidFill>
              </a:defRPr>
            </a:pPr>
            <a:r>
              <a:t>• For decades, this made training spiking networks with deep learning nearly impossible.</a:t>
            </a:r>
          </a:p>
        </p:txBody>
      </p:sp>
      <p:sp>
        <p:nvSpPr>
          <p:cNvPr id="7" name="Rounded Rectangle 6"/>
          <p:cNvSpPr/>
          <p:nvPr/>
        </p:nvSpPr>
        <p:spPr>
          <a:xfrm>
            <a:off x="6217920" y="1463040"/>
            <a:ext cx="5212080" cy="47548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91640"/>
            <a:ext cx="4663440" cy="4297680"/>
          </a:xfrm>
          <a:prstGeom prst="rect">
            <a:avLst/>
          </a:prstGeom>
          <a:noFill/>
        </p:spPr>
        <p:txBody>
          <a:bodyPr wrap="square">
            <a:spAutoFit/>
          </a:bodyPr>
          <a:lstStyle/>
          <a:p>
            <a:pPr>
              <a:spcAft>
                <a:spcPts val="1400"/>
              </a:spcAft>
              <a:defRPr sz="1700" b="1">
                <a:solidFill>
                  <a:srgbClr val="10B981"/>
                </a:solidFill>
              </a:defRPr>
            </a:pPr>
            <a:r>
              <a:t>The Solution: Surrogate Gradients</a:t>
            </a:r>
          </a:p>
          <a:p>
            <a:pPr>
              <a:spcAft>
                <a:spcPts val="1000"/>
              </a:spcAft>
              <a:defRPr sz="1300">
                <a:solidFill>
                  <a:srgbClr val="1E293B"/>
                </a:solidFill>
              </a:defRPr>
            </a:pPr>
            <a:r>
              <a:t>✔ The Clever AI Trick: We separate forward prediction from backwards learning.</a:t>
            </a:r>
          </a:p>
          <a:p>
            <a:pPr>
              <a:spcAft>
                <a:spcPts val="1000"/>
              </a:spcAft>
              <a:defRPr sz="1300">
                <a:solidFill>
                  <a:srgbClr val="1E293B"/>
                </a:solidFill>
              </a:defRPr>
            </a:pPr>
            <a:r>
              <a:t>✔ When running forward: The neurons use real, discrete binary spikes.</a:t>
            </a:r>
          </a:p>
          <a:p>
            <a:pPr>
              <a:spcAft>
                <a:spcPts val="1000"/>
              </a:spcAft>
              <a:defRPr sz="1300">
                <a:solidFill>
                  <a:srgbClr val="1E293B"/>
                </a:solidFill>
              </a:defRPr>
            </a:pPr>
            <a:r>
              <a:t>✔ When learning backwards: The computer pretends the sharp cliff is a smooth, gentle hill.</a:t>
            </a:r>
          </a:p>
          <a:p>
            <a:pPr>
              <a:spcAft>
                <a:spcPts val="1000"/>
              </a:spcAft>
              <a:defRPr sz="1300">
                <a:solidFill>
                  <a:srgbClr val="1E293B"/>
                </a:solidFill>
              </a:defRPr>
            </a:pPr>
            <a:r>
              <a:t>✔ This allows standard optimizers (like Adam) to calculate corrections smoothly.</a:t>
            </a:r>
          </a:p>
          <a:p>
            <a:pPr>
              <a:spcAft>
                <a:spcPts val="1000"/>
              </a:spcAft>
              <a:defRPr sz="1300">
                <a:solidFill>
                  <a:srgbClr val="1E293B"/>
                </a:solidFill>
              </a:defRPr>
            </a:pPr>
            <a:r>
              <a:t>✔ Result: We get real biological spikes with the training power of modern deep learning!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0284C7"/>
                </a:solidFill>
              </a:defRPr>
            </a:pPr>
            <a:r>
              <a:t>ARTIFICIAL INTELLIGENCE MINI-PROJECT</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0F172A"/>
                </a:solidFill>
              </a:defRPr>
            </a:pPr>
            <a:r>
              <a:t>Teaching the Rhythm: Timing-Aware Learning</a:t>
            </a:r>
          </a:p>
        </p:txBody>
      </p:sp>
      <p:sp>
        <p:nvSpPr>
          <p:cNvPr id="5" name="Rounded Rectangle 4"/>
          <p:cNvSpPr/>
          <p:nvPr/>
        </p:nvSpPr>
        <p:spPr>
          <a:xfrm>
            <a:off x="731520" y="146304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3017520" cy="4206240"/>
          </a:xfrm>
          <a:prstGeom prst="rect">
            <a:avLst/>
          </a:prstGeom>
          <a:noFill/>
        </p:spPr>
        <p:txBody>
          <a:bodyPr wrap="square">
            <a:spAutoFit/>
          </a:bodyPr>
          <a:lstStyle/>
          <a:p>
            <a:pPr>
              <a:spcAft>
                <a:spcPts val="1600"/>
              </a:spcAft>
              <a:defRPr sz="1700" b="1">
                <a:solidFill>
                  <a:srgbClr val="0284C7"/>
                </a:solidFill>
              </a:defRPr>
            </a:pPr>
            <a:r>
              <a:t>Why Standard Loss Fails</a:t>
            </a:r>
          </a:p>
          <a:p>
            <a:pPr>
              <a:spcAft>
                <a:spcPts val="1200"/>
              </a:spcAft>
              <a:defRPr sz="1300">
                <a:solidFill>
                  <a:srgbClr val="1E293B"/>
                </a:solidFill>
              </a:defRPr>
            </a:pPr>
            <a:r>
              <a:t>• Normal classification loss only checks: 'Did the model pick the right label at the end?'</a:t>
            </a:r>
          </a:p>
          <a:p>
            <a:pPr>
              <a:spcAft>
                <a:spcPts val="1200"/>
              </a:spcAft>
              <a:defRPr sz="1300">
                <a:solidFill>
                  <a:srgbClr val="1E293B"/>
                </a:solidFill>
              </a:defRPr>
            </a:pPr>
            <a:r>
              <a:t>• It completely ignores how quickly or steadily the pulses fired.</a:t>
            </a:r>
          </a:p>
          <a:p>
            <a:pPr>
              <a:spcAft>
                <a:spcPts val="1200"/>
              </a:spcAft>
              <a:defRPr sz="1300">
                <a:solidFill>
                  <a:srgbClr val="1E293B"/>
                </a:solidFill>
              </a:defRPr>
            </a:pPr>
            <a:r>
              <a:t>• Cardiac diagnosis needs timing awareness, not just a final vote.</a:t>
            </a:r>
          </a:p>
        </p:txBody>
      </p:sp>
      <p:sp>
        <p:nvSpPr>
          <p:cNvPr id="7" name="Rounded Rectangle 6"/>
          <p:cNvSpPr/>
          <p:nvPr/>
        </p:nvSpPr>
        <p:spPr>
          <a:xfrm>
            <a:off x="4343400" y="146304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3017520" cy="4206240"/>
          </a:xfrm>
          <a:prstGeom prst="rect">
            <a:avLst/>
          </a:prstGeom>
          <a:noFill/>
        </p:spPr>
        <p:txBody>
          <a:bodyPr wrap="square">
            <a:spAutoFit/>
          </a:bodyPr>
          <a:lstStyle/>
          <a:p>
            <a:pPr>
              <a:spcAft>
                <a:spcPts val="1600"/>
              </a:spcAft>
              <a:defRPr sz="1700" b="1">
                <a:solidFill>
                  <a:srgbClr val="0284C7"/>
                </a:solidFill>
              </a:defRPr>
            </a:pPr>
            <a:r>
              <a:t>Teaching Rhythm &amp; Timing</a:t>
            </a:r>
          </a:p>
          <a:p>
            <a:pPr>
              <a:spcAft>
                <a:spcPts val="1200"/>
              </a:spcAft>
              <a:defRPr sz="1300">
                <a:solidFill>
                  <a:srgbClr val="1E293B"/>
                </a:solidFill>
              </a:defRPr>
            </a:pPr>
            <a:r>
              <a:t>• We used a timing-aware loss function (Van Rossum distance).</a:t>
            </a:r>
          </a:p>
          <a:p>
            <a:pPr>
              <a:spcAft>
                <a:spcPts val="1200"/>
              </a:spcAft>
              <a:defRPr sz="1300">
                <a:solidFill>
                  <a:srgbClr val="1E293B"/>
                </a:solidFill>
              </a:defRPr>
            </a:pPr>
            <a:r>
              <a:t>• The model converts spike pulses into smooth activity waves over time.</a:t>
            </a:r>
          </a:p>
          <a:p>
            <a:pPr>
              <a:spcAft>
                <a:spcPts val="1200"/>
              </a:spcAft>
              <a:defRPr sz="1300">
                <a:solidFill>
                  <a:srgbClr val="1E293B"/>
                </a:solidFill>
              </a:defRPr>
            </a:pPr>
            <a:r>
              <a:t>• It compares its predicted rhythm against the correct rhythm at every single time step.</a:t>
            </a:r>
          </a:p>
          <a:p>
            <a:pPr>
              <a:spcAft>
                <a:spcPts val="1200"/>
              </a:spcAft>
              <a:defRPr sz="1300">
                <a:solidFill>
                  <a:srgbClr val="1E293B"/>
                </a:solidFill>
              </a:defRPr>
            </a:pPr>
            <a:r>
              <a:t>• Penalizes both missing a beat and firing too late.</a:t>
            </a:r>
          </a:p>
        </p:txBody>
      </p:sp>
      <p:sp>
        <p:nvSpPr>
          <p:cNvPr id="9" name="Rounded Rectangle 8"/>
          <p:cNvSpPr/>
          <p:nvPr/>
        </p:nvSpPr>
        <p:spPr>
          <a:xfrm>
            <a:off x="7955280" y="1463040"/>
            <a:ext cx="34747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691640"/>
            <a:ext cx="3017520" cy="4206240"/>
          </a:xfrm>
          <a:prstGeom prst="rect">
            <a:avLst/>
          </a:prstGeom>
          <a:noFill/>
        </p:spPr>
        <p:txBody>
          <a:bodyPr wrap="square">
            <a:spAutoFit/>
          </a:bodyPr>
          <a:lstStyle/>
          <a:p>
            <a:pPr>
              <a:spcAft>
                <a:spcPts val="1600"/>
              </a:spcAft>
              <a:defRPr sz="1700" b="1">
                <a:solidFill>
                  <a:srgbClr val="0284C7"/>
                </a:solidFill>
              </a:defRPr>
            </a:pPr>
            <a:r>
              <a:t>The Training Result</a:t>
            </a:r>
          </a:p>
          <a:p>
            <a:pPr>
              <a:spcAft>
                <a:spcPts val="1200"/>
              </a:spcAft>
              <a:defRPr sz="1300">
                <a:solidFill>
                  <a:srgbClr val="1E293B"/>
                </a:solidFill>
              </a:defRPr>
            </a:pPr>
            <a:r>
              <a:t>• Smooth and reliable learning across all 60 training epochs.</a:t>
            </a:r>
          </a:p>
          <a:p>
            <a:pPr>
              <a:spcAft>
                <a:spcPts val="1200"/>
              </a:spcAft>
              <a:defRPr sz="1300">
                <a:solidFill>
                  <a:srgbClr val="1E293B"/>
                </a:solidFill>
              </a:defRPr>
            </a:pPr>
            <a:r>
              <a:t>• Total error dropped smoothly by ~71% from start to finish.</a:t>
            </a:r>
          </a:p>
          <a:p>
            <a:pPr>
              <a:spcAft>
                <a:spcPts val="1200"/>
              </a:spcAft>
              <a:defRPr sz="1300">
                <a:solidFill>
                  <a:srgbClr val="1E293B"/>
                </a:solidFill>
              </a:defRPr>
            </a:pPr>
            <a:r>
              <a:t>• The network learned to fire quickly and decisively when an arrhythmia appears.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0284C7"/>
                </a:solidFill>
              </a:defRPr>
            </a:pPr>
            <a:r>
              <a:t>ARTIFICIAL INTELLIGENCE MINI-PROJECT</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0F172A"/>
                </a:solidFill>
              </a:defRPr>
            </a:pPr>
            <a:r>
              <a:t>Experimental Results: Multi-Seed Benchmark</a:t>
            </a:r>
          </a:p>
        </p:txBody>
      </p:sp>
      <p:graphicFrame>
        <p:nvGraphicFramePr>
          <p:cNvPr id="5" name="Table 4"/>
          <p:cNvGraphicFramePr>
            <a:graphicFrameLocks noGrp="1"/>
          </p:cNvGraphicFramePr>
          <p:nvPr/>
        </p:nvGraphicFramePr>
        <p:xfrm>
          <a:off x="731520" y="1463040"/>
          <a:ext cx="10698479" cy="2286000"/>
        </p:xfrm>
        <a:graphic>
          <a:graphicData uri="http://schemas.openxmlformats.org/drawingml/2006/table">
            <a:tbl>
              <a:tblPr firstRow="1" bandRow="1">
                <a:tableStyleId>{5C22544A-7EE6-4342-B048-85BDC9FD1C3A}</a:tableStyleId>
              </a:tblPr>
              <a:tblGrid>
                <a:gridCol w="3749039"/>
                <a:gridCol w="1737360"/>
                <a:gridCol w="1737360"/>
                <a:gridCol w="1737360"/>
                <a:gridCol w="1737360"/>
              </a:tblGrid>
              <a:tr h="762000">
                <a:tc>
                  <a:txBody>
                    <a:bodyPr/>
                    <a:lstStyle/>
                    <a:p>
                      <a:pPr algn="l">
                        <a:defRPr sz="1300" b="1">
                          <a:solidFill>
                            <a:srgbClr val="FFFFFF"/>
                          </a:solidFill>
                        </a:defRPr>
                      </a:pPr>
                      <a:r>
                        <a:t>Model Version</a:t>
                      </a:r>
                    </a:p>
                  </a:txBody>
                  <a:tcPr>
                    <a:solidFill>
                      <a:srgbClr val="0F172A"/>
                    </a:solidFill>
                  </a:tcPr>
                </a:tc>
                <a:tc>
                  <a:txBody>
                    <a:bodyPr/>
                    <a:lstStyle/>
                    <a:p>
                      <a:pPr algn="ctr">
                        <a:defRPr sz="1300" b="1">
                          <a:solidFill>
                            <a:srgbClr val="FFFFFF"/>
                          </a:solidFill>
                        </a:defRPr>
                      </a:pPr>
                      <a:r>
                        <a:t>Overall Accuracy</a:t>
                      </a:r>
                    </a:p>
                  </a:txBody>
                  <a:tcPr>
                    <a:solidFill>
                      <a:srgbClr val="0F172A"/>
                    </a:solidFill>
                  </a:tcPr>
                </a:tc>
                <a:tc>
                  <a:txBody>
                    <a:bodyPr/>
                    <a:lstStyle/>
                    <a:p>
                      <a:pPr algn="ctr">
                        <a:defRPr sz="1300" b="1">
                          <a:solidFill>
                            <a:srgbClr val="FFFFFF"/>
                          </a:solidFill>
                        </a:defRPr>
                      </a:pPr>
                      <a:r>
                        <a:t>Balanced Score (F1)</a:t>
                      </a:r>
                    </a:p>
                  </a:txBody>
                  <a:tcPr>
                    <a:solidFill>
                      <a:srgbClr val="0F172A"/>
                    </a:solidFill>
                  </a:tcPr>
                </a:tc>
                <a:tc>
                  <a:txBody>
                    <a:bodyPr/>
                    <a:lstStyle/>
                    <a:p>
                      <a:pPr algn="ctr">
                        <a:defRPr sz="1300" b="1">
                          <a:solidFill>
                            <a:srgbClr val="FFFFFF"/>
                          </a:solidFill>
                        </a:defRPr>
                      </a:pPr>
                      <a:r>
                        <a:t>Normal Detection</a:t>
                      </a:r>
                    </a:p>
                  </a:txBody>
                  <a:tcPr>
                    <a:solidFill>
                      <a:srgbClr val="0F172A"/>
                    </a:solidFill>
                  </a:tcPr>
                </a:tc>
                <a:tc>
                  <a:txBody>
                    <a:bodyPr/>
                    <a:lstStyle/>
                    <a:p>
                      <a:pPr algn="ctr">
                        <a:defRPr sz="1300" b="1">
                          <a:solidFill>
                            <a:srgbClr val="FFFFFF"/>
                          </a:solidFill>
                        </a:defRPr>
                      </a:pPr>
                      <a:r>
                        <a:t>Arrhythmia Precision</a:t>
                      </a:r>
                    </a:p>
                  </a:txBody>
                  <a:tcPr>
                    <a:solidFill>
                      <a:srgbClr val="0F172A"/>
                    </a:solidFill>
                  </a:tcPr>
                </a:tc>
              </a:tr>
              <a:tr h="762000">
                <a:tc>
                  <a:txBody>
                    <a:bodyPr/>
                    <a:lstStyle/>
                    <a:p>
                      <a:pPr algn="l">
                        <a:defRPr sz="1300">
                          <a:solidFill>
                            <a:srgbClr val="1E293B"/>
                          </a:solidFill>
                        </a:defRPr>
                      </a:pPr>
                      <a:r>
                        <a:t>Published SparrowSNN Baseline</a:t>
                      </a:r>
                    </a:p>
                  </a:txBody>
                  <a:tcPr>
                    <a:solidFill>
                      <a:srgbClr val="FFFFFF"/>
                    </a:solidFill>
                  </a:tcPr>
                </a:tc>
                <a:tc>
                  <a:txBody>
                    <a:bodyPr/>
                    <a:lstStyle/>
                    <a:p>
                      <a:pPr algn="ctr">
                        <a:defRPr sz="1300">
                          <a:solidFill>
                            <a:srgbClr val="1E293B"/>
                          </a:solidFill>
                        </a:defRPr>
                      </a:pPr>
                      <a:r>
                        <a:t>93.26 ± 0.82%</a:t>
                      </a:r>
                    </a:p>
                  </a:txBody>
                  <a:tcPr>
                    <a:solidFill>
                      <a:srgbClr val="FFFFFF"/>
                    </a:solidFill>
                  </a:tcPr>
                </a:tc>
                <a:tc>
                  <a:txBody>
                    <a:bodyPr/>
                    <a:lstStyle/>
                    <a:p>
                      <a:pPr algn="ctr">
                        <a:defRPr sz="1300">
                          <a:solidFill>
                            <a:srgbClr val="1E293B"/>
                          </a:solidFill>
                        </a:defRPr>
                      </a:pPr>
                      <a:r>
                        <a:t>71.14 ± 1.90%</a:t>
                      </a:r>
                    </a:p>
                  </a:txBody>
                  <a:tcPr>
                    <a:solidFill>
                      <a:srgbClr val="FFFFFF"/>
                    </a:solidFill>
                  </a:tcPr>
                </a:tc>
                <a:tc>
                  <a:txBody>
                    <a:bodyPr/>
                    <a:lstStyle/>
                    <a:p>
                      <a:pPr algn="ctr">
                        <a:defRPr sz="1300">
                          <a:solidFill>
                            <a:srgbClr val="1E293B"/>
                          </a:solidFill>
                        </a:defRPr>
                      </a:pPr>
                      <a:r>
                        <a:t>93.4%</a:t>
                      </a:r>
                    </a:p>
                  </a:txBody>
                  <a:tcPr>
                    <a:solidFill>
                      <a:srgbClr val="FFFFFF"/>
                    </a:solidFill>
                  </a:tcPr>
                </a:tc>
                <a:tc>
                  <a:txBody>
                    <a:bodyPr/>
                    <a:lstStyle/>
                    <a:p>
                      <a:pPr algn="ctr">
                        <a:defRPr sz="1300">
                          <a:solidFill>
                            <a:srgbClr val="1E293B"/>
                          </a:solidFill>
                        </a:defRPr>
                      </a:pPr>
                      <a:r>
                        <a:t>~50% (High false alarms)</a:t>
                      </a:r>
                    </a:p>
                  </a:txBody>
                  <a:tcPr>
                    <a:solidFill>
                      <a:srgbClr val="FFFFFF"/>
                    </a:solidFill>
                  </a:tcPr>
                </a:tc>
              </a:tr>
              <a:tr h="762000">
                <a:tc>
                  <a:txBody>
                    <a:bodyPr/>
                    <a:lstStyle/>
                    <a:p>
                      <a:pPr algn="l">
                        <a:defRPr sz="1300" b="1">
                          <a:solidFill>
                            <a:srgbClr val="0F172A"/>
                          </a:solidFill>
                        </a:defRPr>
                      </a:pPr>
                      <a:r>
                        <a:t>Our Optimized SNN AI Model 🚀</a:t>
                      </a:r>
                    </a:p>
                  </a:txBody>
                  <a:tcPr>
                    <a:solidFill>
                      <a:srgbClr val="ECFDF5"/>
                    </a:solidFill>
                  </a:tcPr>
                </a:tc>
                <a:tc>
                  <a:txBody>
                    <a:bodyPr/>
                    <a:lstStyle/>
                    <a:p>
                      <a:pPr algn="ctr">
                        <a:defRPr sz="1300" b="1">
                          <a:solidFill>
                            <a:srgbClr val="10B981"/>
                          </a:solidFill>
                        </a:defRPr>
                      </a:pPr>
                      <a:r>
                        <a:t>97.24 ± 0.19%</a:t>
                      </a:r>
                    </a:p>
                  </a:txBody>
                  <a:tcPr>
                    <a:solidFill>
                      <a:srgbClr val="ECFDF5"/>
                    </a:solidFill>
                  </a:tcPr>
                </a:tc>
                <a:tc>
                  <a:txBody>
                    <a:bodyPr/>
                    <a:lstStyle/>
                    <a:p>
                      <a:pPr algn="ctr">
                        <a:defRPr sz="1300" b="1">
                          <a:solidFill>
                            <a:srgbClr val="10B981"/>
                          </a:solidFill>
                        </a:defRPr>
                      </a:pPr>
                      <a:r>
                        <a:t>83.85 ± 1.36%</a:t>
                      </a:r>
                    </a:p>
                  </a:txBody>
                  <a:tcPr>
                    <a:solidFill>
                      <a:srgbClr val="ECFDF5"/>
                    </a:solidFill>
                  </a:tcPr>
                </a:tc>
                <a:tc>
                  <a:txBody>
                    <a:bodyPr/>
                    <a:lstStyle/>
                    <a:p>
                      <a:pPr algn="ctr">
                        <a:defRPr sz="1300" b="1">
                          <a:solidFill>
                            <a:srgbClr val="10B981"/>
                          </a:solidFill>
                        </a:defRPr>
                      </a:pPr>
                      <a:r>
                        <a:t>98.57%</a:t>
                      </a:r>
                    </a:p>
                  </a:txBody>
                  <a:tcPr>
                    <a:solidFill>
                      <a:srgbClr val="ECFDF5"/>
                    </a:solidFill>
                  </a:tcPr>
                </a:tc>
                <a:tc>
                  <a:txBody>
                    <a:bodyPr/>
                    <a:lstStyle/>
                    <a:p>
                      <a:pPr algn="ctr">
                        <a:defRPr sz="1300" b="1">
                          <a:solidFill>
                            <a:srgbClr val="10B981"/>
                          </a:solidFill>
                        </a:defRPr>
                      </a:pPr>
                      <a:r>
                        <a:t>~75% (Accurate &amp; reliable)</a:t>
                      </a:r>
                    </a:p>
                  </a:txBody>
                  <a:tcPr>
                    <a:solidFill>
                      <a:srgbClr val="ECFDF5"/>
                    </a:solidFill>
                  </a:tcPr>
                </a:tc>
              </a:tr>
            </a:tbl>
          </a:graphicData>
        </a:graphic>
      </p:graphicFrame>
      <p:sp>
        <p:nvSpPr>
          <p:cNvPr id="6" name="Rounded Rectangle 5"/>
          <p:cNvSpPr/>
          <p:nvPr/>
        </p:nvSpPr>
        <p:spPr>
          <a:xfrm>
            <a:off x="731520" y="4114800"/>
            <a:ext cx="2560320" cy="2011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251960"/>
            <a:ext cx="2286000" cy="1737360"/>
          </a:xfrm>
          <a:prstGeom prst="rect">
            <a:avLst/>
          </a:prstGeom>
          <a:noFill/>
        </p:spPr>
        <p:txBody>
          <a:bodyPr wrap="square">
            <a:spAutoFit/>
          </a:bodyPr>
          <a:lstStyle/>
          <a:p>
            <a:pPr>
              <a:spcAft>
                <a:spcPts val="400"/>
              </a:spcAft>
              <a:defRPr sz="2000" b="1">
                <a:solidFill>
                  <a:srgbClr val="10B981"/>
                </a:solidFill>
              </a:defRPr>
            </a:pPr>
            <a:r>
              <a:t>97.24% ± 0.19%</a:t>
            </a:r>
          </a:p>
          <a:p>
            <a:pPr>
              <a:spcAft>
                <a:spcPts val="200"/>
              </a:spcAft>
              <a:defRPr sz="1200" b="1">
                <a:solidFill>
                  <a:srgbClr val="0F172A"/>
                </a:solidFill>
              </a:defRPr>
            </a:pPr>
            <a:r>
              <a:t>Overall Accuracy</a:t>
            </a:r>
          </a:p>
          <a:p>
            <a:pPr>
              <a:defRPr sz="1100">
                <a:solidFill>
                  <a:srgbClr val="64748B"/>
                </a:solidFill>
              </a:defRPr>
            </a:pPr>
            <a:r>
              <a:t>+3.98% over standard baseline</a:t>
            </a:r>
          </a:p>
        </p:txBody>
      </p:sp>
      <p:sp>
        <p:nvSpPr>
          <p:cNvPr id="8" name="Rounded Rectangle 7"/>
          <p:cNvSpPr/>
          <p:nvPr/>
        </p:nvSpPr>
        <p:spPr>
          <a:xfrm>
            <a:off x="3429000" y="4114800"/>
            <a:ext cx="2560320" cy="2011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4251960"/>
            <a:ext cx="2286000" cy="1737360"/>
          </a:xfrm>
          <a:prstGeom prst="rect">
            <a:avLst/>
          </a:prstGeom>
          <a:noFill/>
        </p:spPr>
        <p:txBody>
          <a:bodyPr wrap="square">
            <a:spAutoFit/>
          </a:bodyPr>
          <a:lstStyle/>
          <a:p>
            <a:pPr>
              <a:spcAft>
                <a:spcPts val="400"/>
              </a:spcAft>
              <a:defRPr sz="2000" b="1">
                <a:solidFill>
                  <a:srgbClr val="10B981"/>
                </a:solidFill>
              </a:defRPr>
            </a:pPr>
            <a:r>
              <a:t>83.85% ± 1.36%</a:t>
            </a:r>
          </a:p>
          <a:p>
            <a:pPr>
              <a:spcAft>
                <a:spcPts val="200"/>
              </a:spcAft>
              <a:defRPr sz="1200" b="1">
                <a:solidFill>
                  <a:srgbClr val="0F172A"/>
                </a:solidFill>
              </a:defRPr>
            </a:pPr>
            <a:r>
              <a:t>Macro-F1 Score</a:t>
            </a:r>
          </a:p>
          <a:p>
            <a:pPr>
              <a:defRPr sz="1100">
                <a:solidFill>
                  <a:srgbClr val="64748B"/>
                </a:solidFill>
              </a:defRPr>
            </a:pPr>
            <a:r>
              <a:t>+12.71% balanced improvement</a:t>
            </a:r>
          </a:p>
        </p:txBody>
      </p:sp>
      <p:sp>
        <p:nvSpPr>
          <p:cNvPr id="10" name="Rounded Rectangle 9"/>
          <p:cNvSpPr/>
          <p:nvPr/>
        </p:nvSpPr>
        <p:spPr>
          <a:xfrm>
            <a:off x="6126480" y="4114800"/>
            <a:ext cx="2560320" cy="2011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4251960"/>
            <a:ext cx="2286000" cy="1737360"/>
          </a:xfrm>
          <a:prstGeom prst="rect">
            <a:avLst/>
          </a:prstGeom>
          <a:noFill/>
        </p:spPr>
        <p:txBody>
          <a:bodyPr wrap="square">
            <a:spAutoFit/>
          </a:bodyPr>
          <a:lstStyle/>
          <a:p>
            <a:pPr>
              <a:spcAft>
                <a:spcPts val="400"/>
              </a:spcAft>
              <a:defRPr sz="2000" b="1">
                <a:solidFill>
                  <a:srgbClr val="10B981"/>
                </a:solidFill>
              </a:defRPr>
            </a:pPr>
            <a:r>
              <a:t>± 0.19%</a:t>
            </a:r>
          </a:p>
          <a:p>
            <a:pPr>
              <a:spcAft>
                <a:spcPts val="200"/>
              </a:spcAft>
              <a:defRPr sz="1200" b="1">
                <a:solidFill>
                  <a:srgbClr val="0F172A"/>
                </a:solidFill>
              </a:defRPr>
            </a:pPr>
            <a:r>
              <a:t>Super Low Variance</a:t>
            </a:r>
          </a:p>
          <a:p>
            <a:pPr>
              <a:defRPr sz="1100">
                <a:solidFill>
                  <a:srgbClr val="64748B"/>
                </a:solidFill>
              </a:defRPr>
            </a:pPr>
            <a:r>
              <a:t>Consistently high across random seeds</a:t>
            </a:r>
          </a:p>
        </p:txBody>
      </p:sp>
      <p:sp>
        <p:nvSpPr>
          <p:cNvPr id="12" name="Rounded Rectangle 11"/>
          <p:cNvSpPr/>
          <p:nvPr/>
        </p:nvSpPr>
        <p:spPr>
          <a:xfrm>
            <a:off x="8823960" y="4114800"/>
            <a:ext cx="2560320" cy="2011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0" y="4251960"/>
            <a:ext cx="2286000" cy="1737360"/>
          </a:xfrm>
          <a:prstGeom prst="rect">
            <a:avLst/>
          </a:prstGeom>
          <a:noFill/>
        </p:spPr>
        <p:txBody>
          <a:bodyPr wrap="square">
            <a:spAutoFit/>
          </a:bodyPr>
          <a:lstStyle/>
          <a:p>
            <a:pPr>
              <a:spcAft>
                <a:spcPts val="400"/>
              </a:spcAft>
              <a:defRPr sz="2000" b="1">
                <a:solidFill>
                  <a:srgbClr val="10B981"/>
                </a:solidFill>
              </a:defRPr>
            </a:pPr>
            <a:r>
              <a:t>5.2 KB</a:t>
            </a:r>
          </a:p>
          <a:p>
            <a:pPr>
              <a:spcAft>
                <a:spcPts val="200"/>
              </a:spcAft>
              <a:defRPr sz="1200" b="1">
                <a:solidFill>
                  <a:srgbClr val="0F172A"/>
                </a:solidFill>
              </a:defRPr>
            </a:pPr>
            <a:r>
              <a:t>Total AI Size</a:t>
            </a:r>
          </a:p>
          <a:p>
            <a:pPr>
              <a:defRPr sz="1100">
                <a:solidFill>
                  <a:srgbClr val="64748B"/>
                </a:solidFill>
              </a:defRPr>
            </a:pPr>
            <a:r>
              <a:t>Fits on any microcontroller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0284C7"/>
                </a:solidFill>
              </a:defRPr>
            </a:pPr>
            <a:r>
              <a:t>ARTIFICIAL INTELLIGENCE MINI-PROJECT</a:t>
            </a:r>
          </a:p>
        </p:txBody>
      </p:sp>
      <p:sp>
        <p:nvSpPr>
          <p:cNvPr id="4" name="TextBox 3"/>
          <p:cNvSpPr txBox="1"/>
          <p:nvPr/>
        </p:nvSpPr>
        <p:spPr>
          <a:xfrm>
            <a:off x="731520" y="640080"/>
            <a:ext cx="10698480" cy="640080"/>
          </a:xfrm>
          <a:prstGeom prst="rect">
            <a:avLst/>
          </a:prstGeom>
          <a:noFill/>
        </p:spPr>
        <p:txBody>
          <a:bodyPr wrap="none">
            <a:spAutoFit/>
          </a:bodyPr>
          <a:lstStyle/>
          <a:p>
            <a:pPr>
              <a:defRPr sz="2400" b="1">
                <a:solidFill>
                  <a:srgbClr val="0F172A"/>
                </a:solidFill>
              </a:defRPr>
            </a:pPr>
            <a:r>
              <a:t>Clinical Impact: Slashing False Alarms</a:t>
            </a:r>
          </a:p>
        </p:txBody>
      </p:sp>
      <p:sp>
        <p:nvSpPr>
          <p:cNvPr id="5" name="Rounded Rectangle 4"/>
          <p:cNvSpPr/>
          <p:nvPr/>
        </p:nvSpPr>
        <p:spPr>
          <a:xfrm>
            <a:off x="731520" y="146304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846320" cy="4297680"/>
          </a:xfrm>
          <a:prstGeom prst="rect">
            <a:avLst/>
          </a:prstGeom>
          <a:noFill/>
        </p:spPr>
        <p:txBody>
          <a:bodyPr wrap="square">
            <a:spAutoFit/>
          </a:bodyPr>
          <a:lstStyle/>
          <a:p>
            <a:pPr>
              <a:spcAft>
                <a:spcPts val="1400"/>
              </a:spcAft>
              <a:defRPr sz="1600" b="1">
                <a:solidFill>
                  <a:srgbClr val="0F172A"/>
                </a:solidFill>
              </a:defRPr>
            </a:pPr>
            <a:r>
              <a:t>Test Confusion Matrix (Over 20,000 Beats)</a:t>
            </a:r>
          </a:p>
          <a:p>
            <a:pPr>
              <a:defRPr sz="1100">
                <a:solidFill>
                  <a:srgbClr val="0E7490"/>
                </a:solidFill>
                <a:latin typeface="Consolas"/>
              </a:defRPr>
            </a:pPr>
            <a:r>
              <a:t>               Pred N     Pred S     Pred V     Pred F</a:t>
            </a:r>
            <a:br/>
            <a:r>
              <a:t>  True N:     17,805         79        118         21</a:t>
            </a:r>
            <a:br/>
            <a:r>
              <a:t>  True S:        165        363         28          0</a:t>
            </a:r>
            <a:br/>
            <a:r>
              <a:t>  True V:         49          4      1,339         10</a:t>
            </a:r>
            <a:br/>
            <a:r>
              <a:t>  True F:         24          0         14        122</a:t>
            </a:r>
            <a:br/>
            <a:br/>
            <a:r>
              <a:t>Key Highlights:</a:t>
            </a:r>
            <a:br/>
            <a:r>
              <a:t>• Healthy Beat Accuracy: 98.79% (Rarely causes false alarms)</a:t>
            </a:r>
            <a:br/>
            <a:r>
              <a:t>• Dangerous PVC Detection: 95.51% (Catches life-threatening beats)</a:t>
            </a:r>
            <a:br/>
            <a:r>
              <a:t>• High Arrhythmia Precision: ~75% to 81% true alert rate</a:t>
            </a:r>
          </a:p>
        </p:txBody>
      </p:sp>
      <p:sp>
        <p:nvSpPr>
          <p:cNvPr id="7" name="Rounded Rectangle 6"/>
          <p:cNvSpPr/>
          <p:nvPr/>
        </p:nvSpPr>
        <p:spPr>
          <a:xfrm>
            <a:off x="6217920" y="146304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91640"/>
            <a:ext cx="4663440" cy="4297680"/>
          </a:xfrm>
          <a:prstGeom prst="rect">
            <a:avLst/>
          </a:prstGeom>
          <a:noFill/>
        </p:spPr>
        <p:txBody>
          <a:bodyPr wrap="square">
            <a:spAutoFit/>
          </a:bodyPr>
          <a:lstStyle/>
          <a:p>
            <a:pPr>
              <a:spcAft>
                <a:spcPts val="1400"/>
              </a:spcAft>
              <a:defRPr sz="1700" b="1">
                <a:solidFill>
                  <a:srgbClr val="0284C7"/>
                </a:solidFill>
              </a:defRPr>
            </a:pPr>
            <a:r>
              <a:t>Why This Matters in Healthcare</a:t>
            </a:r>
          </a:p>
          <a:p>
            <a:pPr>
              <a:spcAft>
                <a:spcPts val="1200"/>
              </a:spcAft>
              <a:defRPr sz="1300">
                <a:solidFill>
                  <a:srgbClr val="1E293B"/>
                </a:solidFill>
              </a:defRPr>
            </a:pPr>
            <a:r>
              <a:t>• Cutting False Alarms by ~46%: Drops nuisance alarms on healthy beats by nearly half, directly solving 'alarm fatigue' for nurses and doctors.</a:t>
            </a:r>
          </a:p>
          <a:p>
            <a:pPr>
              <a:spcAft>
                <a:spcPts val="1200"/>
              </a:spcAft>
              <a:defRPr sz="1300">
                <a:solidFill>
                  <a:srgbClr val="1E293B"/>
                </a:solidFill>
              </a:defRPr>
            </a:pPr>
            <a:r>
              <a:t>• Clinical Trust: When this system sounds an alarm, doctors know there is a 75-80% probability it is genuine, compared to only ~50% in prior models.</a:t>
            </a:r>
          </a:p>
          <a:p>
            <a:pPr>
              <a:spcAft>
                <a:spcPts val="1200"/>
              </a:spcAft>
              <a:defRPr sz="1300">
                <a:solidFill>
                  <a:srgbClr val="1E293B"/>
                </a:solidFill>
              </a:defRPr>
            </a:pPr>
            <a:r>
              <a:t>• Critical Sensitivity: Catches premature ventricular contractions with over 95.5% reliability, preventing progression to fatal ventricular fibrillation.</a:t>
            </a:r>
          </a:p>
          <a:p>
            <a:pPr>
              <a:spcAft>
                <a:spcPts val="1200"/>
              </a:spcAft>
              <a:defRPr sz="1300">
                <a:solidFill>
                  <a:srgbClr val="1E293B"/>
                </a:solidFill>
              </a:defRPr>
            </a:pPr>
            <a:r>
              <a:t>• Edge-Ready: All of this happens instantly on the patient's device.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